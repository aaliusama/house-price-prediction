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Model 1
XGBoost</c:v>
                  </c:pt>
                  <c:pt idx="1">
                    <c:v>Model 2
XGB + Log(y)</c:v>
                  </c:pt>
                  <c:pt idx="2">
                    <c:v>Model 3
XGB + Log(X,y)</c:v>
                  </c:pt>
                  <c:pt idx="3">
                    <c:v>Model 4
Weighted</c:v>
                  </c:pt>
                  <c:pt idx="4">
                    <c:v>Model 5
Weighted 70/30</c:v>
                  </c:pt>
                  <c:pt idx="5">
                    <c:v>Model 6
Stacking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25113</c:v>
                </c:pt>
                <c:pt idx="1">
                  <c:v>25334</c:v>
                </c:pt>
                <c:pt idx="2">
                  <c:v>25332</c:v>
                </c:pt>
                <c:pt idx="3">
                  <c:v>25298</c:v>
                </c:pt>
                <c:pt idx="4">
                  <c:v>27182</c:v>
                </c:pt>
                <c:pt idx="5">
                  <c:v>17353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Regression Techniques with Ensemble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3474720"/>
            <a:ext cx="18288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Usama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Social Data Science, Central European University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and Big Data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 independent variables (numerical &amp; categorical)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SalePrice prediction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Heavy missing values and ambiguous NA handling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8600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22860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ML model that accurately predicts house prices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RMSE while maintaining model interpretability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640080" y="38404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RMSE: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17,099 (Weighted Ensemble: 90% XGBoost + 10% LightGBM)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Data Cleaning Decisions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1: NA Ambiguity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meant both 'Not Available' AND 'Not Applicable'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Context-driven imputation (e.g., NA in FireplaceQu = No Fireplace → 'None')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0" y="100584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143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2: 80% Threshold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Alley, PoolQC, Fence, MiscFeature (&gt;80% missing)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data for reliable imputation, high noise potential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74320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3: GarageYrBlt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garage year, but garage age impacts price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with YearBuilt (preserves age relationship)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743200"/>
            <a:ext cx="393192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743200"/>
            <a:ext cx="73152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4: Data Leakage Prevention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37760" y="3200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Imputing test data with test statistics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training set statistics (mode/median)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Strategy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097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Variable Handling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188720" y="14173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features: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after rare category merging (&lt;1% threshold → 'Other')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features: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ordinal mapping based on domain knowledge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Dropped: 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imbalanced features (Condition2, Heating, RoofMatl)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2468880"/>
            <a:ext cx="8229600" cy="228600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6517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97280" y="30175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AgeOfHouse = YrSold - YearBuilt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YearsSinceRemodel = YrSold - YearRemodAdd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GarageAge = YrSold - GarageYrBlt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TotalSF = TotalBsmtSF + 1stFlrSF + 2ndFlrSF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Age-based features capture depreciation; TotalSF is a stronger predictor than individual floor areas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Evolution &amp; Performance</a:t>
            </a:r>
            <a:endParaRPr lang="en-US" sz="4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Weighted Ensemble (90% XGBoost + 10% LightGBM) - RMSE: 17,099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Modeling Decisions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1143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1: Why XGBoost as Base Model?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80160" y="1508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skewed data without transformation (no need for log scaling)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multicollinearity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regularization (L1/L2) prevents overfitting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 for faster training on large feature sets</a:t>
            </a:r>
            <a:endParaRPr lang="en-US" sz="13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060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8016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2: Weighted Ensemble Over Stacking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280160" y="3017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RMSE: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17,353 (better validation)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RMSE: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17,099 (better Kaggle submission score)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 is simpler, faster, and generalizes better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457200" y="3931920"/>
            <a:ext cx="8229600" cy="82296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0080" y="41148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Observed Instability: Weighted ensemble produced different results across runs due to floating-point precision variations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Methods: How They Work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17373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w₁·Model₁ + w₂·Model₂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tested all weight combinations (0.0 to 1.0 in 0.2 steps)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weights: 90% XGBoost + 10% LightGBM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Simple, interpretable, fast inference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learns optimal combination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models: XGBoost, LightGBM, CatBoost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Meta-model: Ridge Regression (L2 regularization)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Better validation, learns complex patterns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200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XGBoost: Gradient Boosted Decision Trees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learning: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corrects errors from previous trees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loss function by fitting residuals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(lambda) and L2 (alpha) penalties prevent overfitting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hyperparameters: </a:t>
            </a:r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max_depth, learning_rate, n_estimators, subsample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SHAP Analysis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Most Influential Features (Model 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1887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OverallQual_TotalSF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feature combining quality rating and square footage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11887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0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KitchenQual_GrLivArea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quality multiplied by living area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560320" cy="11887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949440" y="173736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OverallQual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material and finish quality rating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Home size, quality, and remodeling efforts significantly influence house prices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747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Contributing Features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7947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LotArea, GarageCars, FireplaceQu, YearBuilt, TotalBsmtSF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Solutions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ambiguity (Not Applicable vs. Not Available)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Domain-driven context analysis for each feature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40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cost of stacking ensemble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Experimented with weighted ensemble for faster training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8229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2461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1.6.1 compatibility with XGBoost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function calls to match updated API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4114800"/>
            <a:ext cx="8229600" cy="82296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2519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instability in weighted ensemble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precision variations across runs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4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280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additional ensemble techniques with more computationally efficient models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Random Forest + Gradient Boosting combinations)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deep learning approaches (Artificial Neural Networks)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if non-linear patterns improve prediction accuracy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0"/>
            <a:ext cx="365760" cy="3657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8872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interaction exploration: automated polynomial feature generation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interaction term selection using SHAP or permutation importance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49040"/>
            <a:ext cx="365760" cy="3657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88720" y="37490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optimization: Bayesian optimization (Optuna) for more efficient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than grid search, especially for stacking ensembles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0" y="3474720"/>
            <a:ext cx="1828800" cy="4572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 Usama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usama_ali@student.ceu.edu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 Price Prediction: Advanced Regression Techniques</dc:title>
  <dc:subject>PptxGenJS Presentation</dc:subject>
  <dc:creator>Ali Usama</dc:creator>
  <cp:lastModifiedBy>Ali Usama</cp:lastModifiedBy>
  <cp:revision>1</cp:revision>
  <dcterms:created xsi:type="dcterms:W3CDTF">2026-01-26T11:29:50Z</dcterms:created>
  <dcterms:modified xsi:type="dcterms:W3CDTF">2026-01-26T11:29:50Z</dcterms:modified>
</cp:coreProperties>
</file>